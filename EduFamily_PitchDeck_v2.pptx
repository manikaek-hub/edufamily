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3989" y="652611"/>
            <a:ext cx="77587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364849" y="1810792"/>
            <a:ext cx="24143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Bef>
                <a:spcPts val="1200"/>
              </a:spcBef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EduFamily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300334" y="2534692"/>
            <a:ext cx="25431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L'assistant parental intelligent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71575" y="3258592"/>
            <a:ext cx="68008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Libérer les parents du burn-out quotidien, en commençant par les devoirs.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67813" y="4317653"/>
            <a:ext cx="20082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21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Fondé par une maman de 3 enfants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6342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: le burn-out parental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80492"/>
            <a:ext cx="1714500" cy="1218902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8734" y="1251942"/>
            <a:ext cx="1399032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7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38734" y="1834753"/>
            <a:ext cx="139903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parents dépassés par les devoirs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2432745"/>
            <a:ext cx="1714500" cy="1072307"/>
          </a:xfrm>
          <a:prstGeom prst="roundRect">
            <a:avLst>
              <a:gd name="adj" fmla="val 142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8734" y="2604195"/>
            <a:ext cx="1399032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7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538734" y="3187005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jour en gestion familiale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3638401"/>
            <a:ext cx="1714500" cy="1072307"/>
          </a:xfrm>
          <a:prstGeom prst="roundRect">
            <a:avLst>
              <a:gd name="adj" fmla="val 142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8734" y="3809851"/>
            <a:ext cx="1399032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7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38734" y="4392662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 charge mentale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362200" y="1816894"/>
            <a:ext cx="6400800" cy="886718"/>
          </a:xfrm>
          <a:prstGeom prst="roundRect">
            <a:avLst>
              <a:gd name="adj" fmla="val 171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381250" y="1816894"/>
            <a:ext cx="0" cy="886718"/>
          </a:xfrm>
          <a:prstGeom prst="line">
            <a:avLst/>
          </a:prstGeom>
          <a:noFill/>
          <a:ln w="38100">
            <a:solidFill>
              <a:srgbClr val="FF76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0800" y="2007394"/>
            <a:ext cx="61013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mentale parentale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590800" y="2302669"/>
            <a:ext cx="6101334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Devoirs • Périscolaire • Vacances • Nounou • RDV médicaux • Repas</a:t>
            </a:r>
            <a:endParaRPr lang="en-US" sz="975" dirty="0"/>
          </a:p>
        </p:txBody>
      </p:sp>
      <p:pic>
        <p:nvPicPr>
          <p:cNvPr id="16" name="Image 0" descr="/tmp/rasterized-gradient-041c4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2875062"/>
            <a:ext cx="6400800" cy="10990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552700" y="3065562"/>
            <a:ext cx="6140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"Je passe mes soirées à aider aux devoirs alors que je ne comprends même plus le programme."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2552700" y="3637062"/>
            <a:ext cx="61401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Marie, 42 ans, maman de 2 enfants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 : EduFamily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tuteur IA qui guide sans donner les réponses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2006054"/>
            <a:ext cx="2667000" cy="2106662"/>
          </a:xfrm>
          <a:prstGeom prst="roundRect">
            <a:avLst>
              <a:gd name="adj" fmla="val 90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2025104"/>
            <a:ext cx="2667000" cy="0"/>
          </a:xfrm>
          <a:prstGeom prst="line">
            <a:avLst/>
          </a:prstGeom>
          <a:noFill/>
          <a:ln w="381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2253704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900"/>
              </a:spcAft>
              <a:buNone/>
            </a:pPr>
            <a:r>
              <a:rPr lang="en-US" sz="2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0550" y="2847975"/>
            <a:ext cx="229285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Parent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590550" y="3169890"/>
            <a:ext cx="2292858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Comprenez la leçon en 2 min. Conseils pour guider. Carte mentale auto.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90550" y="374317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Photo → Résumé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8500" y="2006054"/>
            <a:ext cx="2667000" cy="2106662"/>
          </a:xfrm>
          <a:prstGeom prst="roundRect">
            <a:avLst>
              <a:gd name="adj" fmla="val 90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8500" y="2025104"/>
            <a:ext cx="2667000" cy="0"/>
          </a:xfrm>
          <a:prstGeom prst="line">
            <a:avLst/>
          </a:prstGeom>
          <a:noFill/>
          <a:ln w="38100">
            <a:solidFill>
              <a:srgbClr val="FF76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8050" y="2253704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900"/>
              </a:spcAft>
              <a:buNone/>
            </a:pPr>
            <a:r>
              <a:rPr lang="en-US" sz="2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🎒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448050" y="2847975"/>
            <a:ext cx="229285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Enfant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448050" y="3169890"/>
            <a:ext cx="2292858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socratique. Jamais de réponse directe. Encouragements.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48050" y="374317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b="1" dirty="0">
                <a:solidFill>
                  <a:srgbClr val="FF7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Apprendre à apprendre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0" y="2006054"/>
            <a:ext cx="2667000" cy="2106662"/>
          </a:xfrm>
          <a:prstGeom prst="roundRect">
            <a:avLst>
              <a:gd name="adj" fmla="val 90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6000" y="2025104"/>
            <a:ext cx="2667000" cy="0"/>
          </a:xfrm>
          <a:prstGeom prst="line">
            <a:avLst/>
          </a:prstGeom>
          <a:noFill/>
          <a:ln w="38100">
            <a:solidFill>
              <a:srgbClr val="00CE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5550" y="2253704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900"/>
              </a:spcAft>
              <a:buNone/>
            </a:pPr>
            <a:r>
              <a:rPr lang="en-US" sz="2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305550" y="2847975"/>
            <a:ext cx="229285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à tous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305550" y="3169890"/>
            <a:ext cx="2292858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Multilingue. Prix familial 4,99€. Pas de barrière sociale.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305550" y="374317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b="1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10x moins cher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ça marche 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554510"/>
            <a:ext cx="2000250" cy="26821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rasterized-gradient-4686a7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687860"/>
            <a:ext cx="1733550" cy="2415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032" y="1821210"/>
            <a:ext cx="1496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7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 Foxie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7700" y="2103090"/>
            <a:ext cx="1466850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2950" y="2179290"/>
            <a:ext cx="1301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quoi tu travailles ?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76300" y="2465040"/>
            <a:ext cx="1238250" cy="285750"/>
          </a:xfrm>
          <a:prstGeom prst="roundRect">
            <a:avLst>
              <a:gd name="adj" fmla="val 33333"/>
            </a:avLst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71550" y="254124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fractions...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7700" y="282699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42950" y="2903190"/>
            <a:ext cx="13018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coupes en 4 parts et prends 1 ?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76300" y="3322290"/>
            <a:ext cx="1238250" cy="285750"/>
          </a:xfrm>
          <a:prstGeom prst="roundRect">
            <a:avLst>
              <a:gd name="adj" fmla="val 33333"/>
            </a:avLst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71550" y="339849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 !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47700" y="3684240"/>
            <a:ext cx="1466850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42950" y="3760440"/>
            <a:ext cx="1301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! Tu as compris 🌟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724150" y="160779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190280" y="1595438"/>
            <a:ext cx="2553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Scanner la leçon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3190280" y="1833563"/>
            <a:ext cx="25530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du cahier → OCR → concepts clés extraits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24150" y="2158305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3190280" y="2145953"/>
            <a:ext cx="21937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Résumé pour le parent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3190280" y="2384078"/>
            <a:ext cx="21937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en 2 min + conseils pratiques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24150" y="2708821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3190280" y="2696468"/>
            <a:ext cx="240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Chat avec Foxie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3190280" y="2934593"/>
            <a:ext cx="240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Questionnement socratique, jamais la réponse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24150" y="325933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3190280" y="3246983"/>
            <a:ext cx="2043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Carte mentale automatique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3190280" y="3485108"/>
            <a:ext cx="20432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Visualiser pour mémoriser efficacement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724150" y="3809851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3190280" y="3797498"/>
            <a:ext cx="27636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Suivi de progression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3190280" y="4035623"/>
            <a:ext cx="27636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parent : points forts et axes d'amélioration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marché massif en croissance</a:t>
            </a:r>
            <a:endParaRPr lang="en-US" sz="2400" dirty="0"/>
          </a:p>
        </p:txBody>
      </p:sp>
      <p:pic>
        <p:nvPicPr>
          <p:cNvPr id="3" name="Image 0" descr="/tmp/rasterized-gradient-4272b2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49859"/>
            <a:ext cx="2476500" cy="1201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9976" y="1459409"/>
            <a:ext cx="209854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$254B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9976" y="2069009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- EdTech K-12 mondial 2033</a:t>
            </a:r>
            <a:endParaRPr lang="en-US" sz="975" dirty="0"/>
          </a:p>
        </p:txBody>
      </p:sp>
      <p:pic>
        <p:nvPicPr>
          <p:cNvPr id="6" name="Image 1" descr="/tmp/rasterized-gradient-9cf626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85145"/>
            <a:ext cx="2476500" cy="9867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114" y="2756595"/>
            <a:ext cx="217627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$36B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31114" y="3240435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- Tutorat en ligne</a:t>
            </a:r>
            <a:endParaRPr lang="en-US" sz="900" dirty="0"/>
          </a:p>
        </p:txBody>
      </p:sp>
      <p:pic>
        <p:nvPicPr>
          <p:cNvPr id="9" name="Image 2" descr="/tmp/rasterized-gradient-efb912e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705225"/>
            <a:ext cx="2476500" cy="8361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1683" y="3857625"/>
            <a:ext cx="221513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€50M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511683" y="4242346"/>
            <a:ext cx="22151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- France Y1-3</a:t>
            </a:r>
            <a:endParaRPr lang="en-US" sz="825" dirty="0"/>
          </a:p>
        </p:txBody>
      </p:sp>
      <p:sp>
        <p:nvSpPr>
          <p:cNvPr id="12" name="Text 7"/>
          <p:cNvSpPr/>
          <p:nvPr/>
        </p:nvSpPr>
        <p:spPr>
          <a:xfrm>
            <a:off x="3124200" y="1518493"/>
            <a:ext cx="5638800" cy="816173"/>
          </a:xfrm>
          <a:prstGeom prst="roundRect">
            <a:avLst>
              <a:gd name="adj" fmla="val 186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3143250" y="1518493"/>
            <a:ext cx="0" cy="816173"/>
          </a:xfrm>
          <a:prstGeom prst="line">
            <a:avLst/>
          </a:prstGeom>
          <a:noFill/>
          <a:ln w="38100">
            <a:solidFill>
              <a:srgbClr val="6C5CE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333750" y="1689943"/>
            <a:ext cx="53629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du marché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333750" y="1952774"/>
            <a:ext cx="5362956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Tutorat en ligne : +14,5%/an • IA EdTech : +38%/an • Post-COVID : adoption massive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3124200" y="2468017"/>
            <a:ext cx="5638800" cy="816173"/>
          </a:xfrm>
          <a:prstGeom prst="roundRect">
            <a:avLst>
              <a:gd name="adj" fmla="val 186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3143250" y="2468017"/>
            <a:ext cx="0" cy="816173"/>
          </a:xfrm>
          <a:prstGeom prst="line">
            <a:avLst/>
          </a:prstGeom>
          <a:noFill/>
          <a:ln w="38100">
            <a:solidFill>
              <a:srgbClr val="FF767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333750" y="2639467"/>
            <a:ext cx="53629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France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333750" y="2902297"/>
            <a:ext cx="5362956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8,5M familles avec enfants scolarisés • 73% utilisent le digital • 45€/mois en soutien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3124200" y="3417540"/>
            <a:ext cx="1790700" cy="855166"/>
          </a:xfrm>
          <a:prstGeom prst="roundRect">
            <a:avLst>
              <a:gd name="adj" fmla="val 15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261741" y="3569940"/>
            <a:ext cx="151561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12,5%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3261741" y="39737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EdTech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5048250" y="3417540"/>
            <a:ext cx="1790700" cy="855166"/>
          </a:xfrm>
          <a:prstGeom prst="roundRect">
            <a:avLst>
              <a:gd name="adj" fmla="val 15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185791" y="3569940"/>
            <a:ext cx="151561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950" dirty="0"/>
          </a:p>
        </p:txBody>
      </p:sp>
      <p:sp>
        <p:nvSpPr>
          <p:cNvPr id="25" name="Text 20"/>
          <p:cNvSpPr/>
          <p:nvPr/>
        </p:nvSpPr>
        <p:spPr>
          <a:xfrm>
            <a:off x="5185791" y="39737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on-demand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6972300" y="3417540"/>
            <a:ext cx="1790700" cy="855166"/>
          </a:xfrm>
          <a:prstGeom prst="roundRect">
            <a:avLst>
              <a:gd name="adj" fmla="val 15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109841" y="3569940"/>
            <a:ext cx="151561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950" dirty="0"/>
          </a:p>
        </p:txBody>
      </p:sp>
      <p:sp>
        <p:nvSpPr>
          <p:cNvPr id="28" name="Text 23"/>
          <p:cNvSpPr/>
          <p:nvPr/>
        </p:nvSpPr>
        <p:spPr>
          <a:xfrm>
            <a:off x="7109841" y="39737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IA ados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58119"/>
            <a:ext cx="1524000" cy="207496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0070" y="2048619"/>
            <a:ext cx="1165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0070" y="2330500"/>
            <a:ext cx="116586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0070" y="2852440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050"/>
              </a:spcAft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toujours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3132386"/>
            <a:ext cx="1165860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50 interactions/mois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3348484"/>
            <a:ext cx="1165860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 enfant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3564582"/>
            <a:ext cx="1165860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Pas d'historique</a:t>
            </a:r>
            <a:endParaRPr lang="en-US" sz="825" dirty="0"/>
          </a:p>
        </p:txBody>
      </p:sp>
      <p:pic>
        <p:nvPicPr>
          <p:cNvPr id="10" name="Image 0" descr="/tmp/rasterized-gradient-94005a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355" y="1513418"/>
            <a:ext cx="1748790" cy="276436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79952" y="1707728"/>
            <a:ext cx="1345445" cy="349758"/>
          </a:xfrm>
          <a:prstGeom prst="roundRect">
            <a:avLst>
              <a:gd name="adj" fmla="val 32680"/>
            </a:avLst>
          </a:prstGeom>
          <a:solidFill>
            <a:srgbClr val="FF76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385415" y="1746590"/>
            <a:ext cx="1134519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POPULAIRE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259063" y="2135210"/>
            <a:ext cx="1387374" cy="19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59063" y="2422728"/>
            <a:ext cx="1387374" cy="4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4,99€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259063" y="2955107"/>
            <a:ext cx="1387374" cy="149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0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2272665" y="3240652"/>
            <a:ext cx="1387374" cy="1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500 interactions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272665" y="3461072"/>
            <a:ext cx="1387374" cy="1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 enfants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2272665" y="3681493"/>
            <a:ext cx="1387374" cy="181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Cartes mentales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272665" y="3901913"/>
            <a:ext cx="1387374" cy="1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Multilingue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000500" y="1750070"/>
            <a:ext cx="1524000" cy="22910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179570" y="1940570"/>
            <a:ext cx="1165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79570" y="2222450"/>
            <a:ext cx="116586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9,99€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4179570" y="2744391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050"/>
              </a:spcAft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191000" y="3024336"/>
            <a:ext cx="1165860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Illimité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191000" y="3240435"/>
            <a:ext cx="1165860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6 enfants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191000" y="3456533"/>
            <a:ext cx="1165860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 examen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191000" y="3672632"/>
            <a:ext cx="1165860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Support prioritaire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5715000" y="1737420"/>
            <a:ext cx="23317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5715000" y="2044005"/>
            <a:ext cx="2286000" cy="1259086"/>
          </a:xfrm>
          <a:prstGeom prst="roundRect">
            <a:avLst>
              <a:gd name="adj" fmla="val 105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67400" y="2196405"/>
            <a:ext cx="6738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mensuel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562552" y="2196405"/>
            <a:ext cx="291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4,99€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867400" y="2432596"/>
            <a:ext cx="862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API Claude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524452" y="2432596"/>
            <a:ext cx="330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-1,70€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867400" y="2668786"/>
            <a:ext cx="686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524452" y="2668786"/>
            <a:ext cx="330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-0,50€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867400" y="2909739"/>
            <a:ext cx="19812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67400" y="2990701"/>
            <a:ext cx="6673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brute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225903" y="2990701"/>
            <a:ext cx="6351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2,79€ (56%)</a:t>
            </a:r>
            <a:endParaRPr lang="en-US" sz="900" dirty="0"/>
          </a:p>
        </p:txBody>
      </p:sp>
      <p:pic>
        <p:nvPicPr>
          <p:cNvPr id="39" name="Image 1" descr="/tmp/rasterized-gradient-95c37e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436441"/>
            <a:ext cx="2286000" cy="61719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848350" y="3569791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 : 4,5x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848350" y="3786932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67€ • CAC cible 15€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: L'assistant parental complet</a:t>
            </a:r>
            <a:endParaRPr lang="en-US" sz="2400" dirty="0"/>
          </a:p>
        </p:txBody>
      </p:sp>
      <p:pic>
        <p:nvPicPr>
          <p:cNvPr id="3" name="Image 0" descr="/tmp/rasterized-gradient-59a467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743075"/>
            <a:ext cx="666750" cy="666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3555" y="185350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8409" y="21658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81100" y="1878360"/>
            <a:ext cx="47411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: Éducation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81100" y="2103090"/>
            <a:ext cx="4741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Tuteur IA devoirs • Scanner leçons • Cartes mentales • 10K familles</a:t>
            </a:r>
            <a:endParaRPr lang="en-US" sz="900" dirty="0"/>
          </a:p>
        </p:txBody>
      </p:sp>
      <p:pic>
        <p:nvPicPr>
          <p:cNvPr id="8" name="Image 1" descr="/tmp/rasterized-gradient-68810f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43175"/>
            <a:ext cx="666750" cy="666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3555" y="265360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08409" y="29659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81100" y="2583210"/>
            <a:ext cx="47411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: Contenus Premium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81100" y="2807940"/>
            <a:ext cx="4741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Partenariat Hachette/Nathan : manuels intégrés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81100" y="2998440"/>
            <a:ext cx="4741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Intégration Pronote : sync calendrier et devoirs</a:t>
            </a:r>
            <a:endParaRPr lang="en-US" sz="900" dirty="0"/>
          </a:p>
        </p:txBody>
      </p:sp>
      <p:pic>
        <p:nvPicPr>
          <p:cNvPr id="14" name="Image 2" descr="/tmp/rasterized-gradient-b58eb14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343275"/>
            <a:ext cx="666750" cy="666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3555" y="345370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580579" y="3766096"/>
            <a:ext cx="272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1181100" y="3379440"/>
            <a:ext cx="47411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: Assistant Parental 360°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181100" y="3604171"/>
            <a:ext cx="4741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Agenda famille • RDV médicaux • Périscolaire • Vacances • Nounou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81100" y="3813721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: zéro burn-out parental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096000" y="1118443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Partenariats stratégiques</a:t>
            </a:r>
            <a:endParaRPr lang="en-US" sz="975" dirty="0"/>
          </a:p>
        </p:txBody>
      </p:sp>
      <p:sp>
        <p:nvSpPr>
          <p:cNvPr id="21" name="Text 16"/>
          <p:cNvSpPr/>
          <p:nvPr/>
        </p:nvSpPr>
        <p:spPr>
          <a:xfrm>
            <a:off x="6096000" y="1405979"/>
            <a:ext cx="1319808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229350" y="1501229"/>
            <a:ext cx="1074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Hachette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492008" y="1405979"/>
            <a:ext cx="1171724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625358" y="1501229"/>
            <a:ext cx="923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📗 Nathan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096000" y="1939379"/>
            <a:ext cx="1224558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229350" y="2034629"/>
            <a:ext cx="9770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Pronote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096000" y="2472779"/>
            <a:ext cx="1806922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229350" y="2568029"/>
            <a:ext cx="1571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Éducation Nat.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096000" y="3006179"/>
            <a:ext cx="1245691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229350" y="3101429"/>
            <a:ext cx="9985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Doctolib</a:t>
            </a:r>
            <a:endParaRPr lang="en-US" sz="1500" dirty="0"/>
          </a:p>
        </p:txBody>
      </p:sp>
      <p:pic>
        <p:nvPicPr>
          <p:cNvPr id="31" name="Image 3" descr="/tmp/rasterized-gradient-f8ff788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77679"/>
            <a:ext cx="2667000" cy="105697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48400" y="3730079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conviction</a:t>
            </a:r>
            <a:endParaRPr lang="en-US" sz="975" dirty="0"/>
          </a:p>
        </p:txBody>
      </p:sp>
      <p:sp>
        <p:nvSpPr>
          <p:cNvPr id="33" name="Text 27"/>
          <p:cNvSpPr/>
          <p:nvPr/>
        </p:nvSpPr>
        <p:spPr>
          <a:xfrm>
            <a:off x="6248400" y="3979515"/>
            <a:ext cx="2409444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L'enfant = 60%+ de l'agenda parental. En commençant par l'éducation, on devient le hub central de la vie familiale.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EduFamily gagne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8382000" cy="292611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09650"/>
            <a:ext cx="1333500" cy="419100"/>
          </a:xfrm>
          <a:prstGeom prst="roundRect">
            <a:avLst>
              <a:gd name="adj" fmla="val 13636"/>
            </a:avLst>
          </a:prstGeom>
          <a:solidFill>
            <a:srgbClr val="2D34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085850"/>
            <a:ext cx="12047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05000" y="1009650"/>
            <a:ext cx="1666875" cy="419100"/>
          </a:xfrm>
          <a:prstGeom prst="rect">
            <a:avLst/>
          </a:prstGeom>
          <a:solidFill>
            <a:srgbClr val="2D34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66055" y="1085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71875" y="1009650"/>
            <a:ext cx="1666875" cy="419100"/>
          </a:xfrm>
          <a:prstGeom prst="rect">
            <a:avLst/>
          </a:prstGeom>
          <a:solidFill>
            <a:srgbClr val="2D34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32930" y="1085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Khanmigo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38750" y="1009650"/>
            <a:ext cx="1666875" cy="419100"/>
          </a:xfrm>
          <a:prstGeom prst="rect">
            <a:avLst/>
          </a:prstGeom>
          <a:solidFill>
            <a:srgbClr val="2D34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99805" y="1085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Kartable</a:t>
            </a:r>
            <a:endParaRPr lang="en-US" sz="1500" dirty="0"/>
          </a:p>
        </p:txBody>
      </p:sp>
      <p:pic>
        <p:nvPicPr>
          <p:cNvPr id="12" name="Image 0" descr="/tmp/rasterized-gradient-febd7b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5625" y="1009650"/>
            <a:ext cx="1666875" cy="4191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66680" y="1085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 EduFamily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1500" y="2157413"/>
            <a:ext cx="80010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700" y="1524000"/>
            <a:ext cx="12047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socratique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966055" y="16573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Désactivable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32930" y="16573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99805" y="16573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966680" y="16573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Strict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71500" y="2890838"/>
            <a:ext cx="80010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700" y="2257425"/>
            <a:ext cx="12047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parent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966055" y="239077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632930" y="239077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99805" y="239077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Basique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966680" y="239077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71500" y="3357562"/>
            <a:ext cx="80010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700" y="2990850"/>
            <a:ext cx="12047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familial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966055" y="2990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20€/pers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632930" y="2990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$44/an/pers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299805" y="2990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10€/mois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966680" y="2990850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4,99€/famille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7700" y="3457575"/>
            <a:ext cx="12047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Pronote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966055" y="359092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3632930" y="359092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299805" y="359092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966680" y="359092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2026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381000" y="3954810"/>
            <a:ext cx="1995487" cy="921990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14350" y="4088160"/>
            <a:ext cx="17633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514350" y="4412010"/>
            <a:ext cx="17633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contextuelles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4350" y="461010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 réseau familial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2509838" y="3954810"/>
            <a:ext cx="1995487" cy="921990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2643188" y="4088160"/>
            <a:ext cx="17633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2643188" y="4412010"/>
            <a:ext cx="17633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vers B2B2C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643188" y="461010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éditeurs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638675" y="3954810"/>
            <a:ext cx="1995487" cy="921990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772025" y="4088160"/>
            <a:ext cx="17633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💜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4772025" y="4412010"/>
            <a:ext cx="17633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sociale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772025" y="461010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Partenariats CAF, mairies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767513" y="3954810"/>
            <a:ext cx="1995487" cy="921990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900863" y="4088160"/>
            <a:ext cx="17633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6900863" y="4412010"/>
            <a:ext cx="17633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900863" y="461010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parental complet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avantage technologique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2865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IA qui comprend vraiment votre famille</a:t>
            </a:r>
            <a:endParaRPr lang="en-US" sz="1050" dirty="0"/>
          </a:p>
        </p:txBody>
      </p:sp>
      <p:pic>
        <p:nvPicPr>
          <p:cNvPr id="4" name="Image 0" descr="/tmp/rasterized-gradient-1449e8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88690"/>
            <a:ext cx="3009900" cy="14131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2450" y="1360140"/>
            <a:ext cx="2720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2450" y="1756321"/>
            <a:ext cx="27203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Famille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2450" y="2064841"/>
            <a:ext cx="272034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membre = vecteur multidimensionnel unique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1000" y="2735163"/>
            <a:ext cx="3009900" cy="1602432"/>
          </a:xfrm>
          <a:prstGeom prst="roundRect">
            <a:avLst>
              <a:gd name="adj" fmla="val 83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2887563"/>
            <a:ext cx="27592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capturées 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3400" y="3142804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Style d'apprentissage (visuel, auditif...)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33400" y="3358902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Caractère et personnalité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33400" y="3575000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Passions et centres d'intérêt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3400" y="3791099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Historique d'interactions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33400" y="4007197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Contraintes (santé, allergies...)</a:t>
            </a:r>
            <a:endParaRPr lang="en-US" sz="825" dirty="0"/>
          </a:p>
        </p:txBody>
      </p:sp>
      <p:pic>
        <p:nvPicPr>
          <p:cNvPr id="15" name="Image 1" descr="/tmp/rasterized-gradient-f9928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470946"/>
            <a:ext cx="3009900" cy="3751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5300" y="4585246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on utilise → Plus c'est pertinent</a:t>
            </a:r>
            <a:endParaRPr lang="en-US" sz="825" dirty="0"/>
          </a:p>
        </p:txBody>
      </p:sp>
      <p:pic>
        <p:nvPicPr>
          <p:cNvPr id="17" name="Image 2" descr="/tmp/rasterized-gradient-c5c450b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1280071"/>
            <a:ext cx="3009900" cy="12303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0950" y="1451521"/>
            <a:ext cx="2720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790950" y="1847701"/>
            <a:ext cx="27203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Autonomes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790950" y="2156222"/>
            <a:ext cx="27203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assistants qui agissent proactivement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619500" y="2643783"/>
            <a:ext cx="3009900" cy="1602432"/>
          </a:xfrm>
          <a:prstGeom prst="roundRect">
            <a:avLst>
              <a:gd name="adj" fmla="val 83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771900" y="2796183"/>
            <a:ext cx="27592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spécialisés :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771900" y="3051423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🗓️ Planning : sync Pronote, créneaux optimaux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3771900" y="3267521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Révisions : détecte contrôles, programme auto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3771900" y="3483620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Santé : rappels vaccins, RDV médicaux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3771900" y="3699718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🏖️ Vacances : activités selon passions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3771900" y="3915817"/>
            <a:ext cx="2759202" cy="1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👶 Garde : planning nounou, backups</a:t>
            </a:r>
            <a:endParaRPr lang="en-US" sz="825" dirty="0"/>
          </a:p>
        </p:txBody>
      </p:sp>
      <p:pic>
        <p:nvPicPr>
          <p:cNvPr id="28" name="Image 3" descr="/tmp/rasterized-gradient-7ca646d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4379565"/>
            <a:ext cx="3009900" cy="3751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733800" y="4493865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"outil" → "assistant qui agit"</a:t>
            </a:r>
            <a:endParaRPr lang="en-US" sz="825" dirty="0"/>
          </a:p>
        </p:txBody>
      </p:sp>
      <p:sp>
        <p:nvSpPr>
          <p:cNvPr id="30" name="Text 24"/>
          <p:cNvSpPr/>
          <p:nvPr/>
        </p:nvSpPr>
        <p:spPr>
          <a:xfrm>
            <a:off x="6858000" y="1832521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concret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858000" y="2106811"/>
            <a:ext cx="19050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6"/>
          <p:cNvSpPr/>
          <p:nvPr/>
        </p:nvSpPr>
        <p:spPr>
          <a:xfrm>
            <a:off x="6872288" y="2106811"/>
            <a:ext cx="0" cy="1143000"/>
          </a:xfrm>
          <a:prstGeom prst="line">
            <a:avLst/>
          </a:prstGeom>
          <a:noFill/>
          <a:ln w="28575">
            <a:solidFill>
              <a:srgbClr val="6C5CE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019925" y="2240161"/>
            <a:ext cx="1641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Gauthier (12 ans) a un contrôle maths vendredi.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7019925" y="2602111"/>
            <a:ext cx="1641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sait qu'il est visuel et compétitif.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7019925" y="2811661"/>
            <a:ext cx="1641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Foxie propose un défi chrono avec schémas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6858000" y="3364111"/>
            <a:ext cx="1905000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1"/>
          <p:cNvSpPr/>
          <p:nvPr/>
        </p:nvSpPr>
        <p:spPr>
          <a:xfrm>
            <a:off x="6872288" y="3364111"/>
            <a:ext cx="0" cy="838200"/>
          </a:xfrm>
          <a:prstGeom prst="line">
            <a:avLst/>
          </a:prstGeom>
          <a:noFill/>
          <a:ln w="28575">
            <a:solidFill>
              <a:srgbClr val="FF7675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019925" y="3497461"/>
            <a:ext cx="1641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Vacances dans 3 semaines.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7019925" y="3707011"/>
            <a:ext cx="1641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Victoire adore la danse.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7019925" y="3916561"/>
            <a:ext cx="1641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FF7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 propose 3 stages adaptés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L'équipe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217563"/>
            <a:ext cx="2476500" cy="331782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rasterized-gradient-774fb9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1446163"/>
            <a:ext cx="666750" cy="666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0956" y="1539478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👩‍💼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89407" y="2246263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Manika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89407" y="2524274"/>
            <a:ext cx="2059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Fondatrice et CEO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609600" y="2830860"/>
            <a:ext cx="205968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ans en vente B2B tech enterprise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609600" y="3055590"/>
            <a:ext cx="205968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AWS - WW Global Account Manager Carrefour (40 pays, $100M)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609600" y="3447901"/>
            <a:ext cx="205968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Microsoft, SAS Institute, Capgemini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09600" y="3672632"/>
            <a:ext cx="205968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Track record : 95-105% quota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09600" y="3897362"/>
            <a:ext cx="205968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AWS AI Practitioner certifiée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609600" y="4160193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👨‍👩‍👧‍👦 Maman de 3 enfants = 1ère testeuse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124200" y="850850"/>
            <a:ext cx="57515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actuelle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24200" y="1170831"/>
            <a:ext cx="1803350" cy="1093291"/>
          </a:xfrm>
          <a:prstGeom prst="roundRect">
            <a:avLst>
              <a:gd name="adj" fmla="val 12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61614" y="1323231"/>
            <a:ext cx="15285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261614" y="1700361"/>
            <a:ext cx="15285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261614" y="1978372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fonctionnel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41850" y="1170831"/>
            <a:ext cx="1803350" cy="1093291"/>
          </a:xfrm>
          <a:prstGeom prst="roundRect">
            <a:avLst>
              <a:gd name="adj" fmla="val 12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79265" y="1323231"/>
            <a:ext cx="15285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179265" y="1700361"/>
            <a:ext cx="15285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179265" y="1978372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testeurs (mes enfants!)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959501" y="1170831"/>
            <a:ext cx="1803350" cy="1093291"/>
          </a:xfrm>
          <a:prstGeom prst="roundRect">
            <a:avLst>
              <a:gd name="adj" fmla="val 12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096915" y="1323231"/>
            <a:ext cx="15285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096915" y="1700361"/>
            <a:ext cx="15285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096915" y="1978372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brute validée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124200" y="2473672"/>
            <a:ext cx="57515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124200" y="2793653"/>
            <a:ext cx="56388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276600" y="2946053"/>
            <a:ext cx="567142" cy="209550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946922" y="2970758"/>
            <a:ext cx="11795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privée 50 familles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76600" y="3250853"/>
            <a:ext cx="567142" cy="209550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46922" y="3275558"/>
            <a:ext cx="1309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Lancement public France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76600" y="3555653"/>
            <a:ext cx="567142" cy="209550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946922" y="3580358"/>
            <a:ext cx="15294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 Hachette/Nathan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76600" y="3860453"/>
            <a:ext cx="567142" cy="209550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946922" y="3885158"/>
            <a:ext cx="12703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intégration Pronote</a:t>
            </a:r>
            <a:endParaRPr lang="en-US" sz="900" dirty="0"/>
          </a:p>
        </p:txBody>
      </p:sp>
      <p:pic>
        <p:nvPicPr>
          <p:cNvPr id="37" name="Image 1" descr="/tmp/rasterized-gradient-bde760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4355753"/>
            <a:ext cx="5638800" cy="546646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238500" y="4470053"/>
            <a:ext cx="55184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Recherche co-fondateur(rice) technique</a:t>
            </a:r>
            <a:endParaRPr lang="en-US" sz="825" dirty="0"/>
          </a:p>
        </p:txBody>
      </p:sp>
      <p:sp>
        <p:nvSpPr>
          <p:cNvPr id="39" name="Text 35"/>
          <p:cNvSpPr/>
          <p:nvPr/>
        </p:nvSpPr>
        <p:spPr>
          <a:xfrm>
            <a:off x="3238500" y="4654748"/>
            <a:ext cx="5518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/ ML engineer passionné(e) EdTech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3706" y="304800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692963" y="822871"/>
            <a:ext cx="375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Rejoignez l'aventure EduFamily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980328" y="1127671"/>
            <a:ext cx="31833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Ensemble, libérons les parents du burn-out quotidien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66875" y="2020193"/>
            <a:ext cx="1809750" cy="1455390"/>
          </a:xfrm>
          <a:prstGeom prst="roundRect">
            <a:avLst>
              <a:gd name="adj" fmla="val 11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6c5ce7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3656" y="2191643"/>
            <a:ext cx="149618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3656" y="2694533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Investisseurs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823656" y="2970758"/>
            <a:ext cx="1496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: 500K€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823656" y="3146971"/>
            <a:ext cx="1496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10K familles Y1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667125" y="2020193"/>
            <a:ext cx="1809750" cy="1455390"/>
          </a:xfrm>
          <a:prstGeom prst="roundRect">
            <a:avLst>
              <a:gd name="adj" fmla="val 11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6c5ce7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23907" y="2191643"/>
            <a:ext cx="149618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23907" y="2694533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Partenaires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823907" y="2970758"/>
            <a:ext cx="1496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Éditeurs scolaires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23907" y="3146971"/>
            <a:ext cx="1496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éducatives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667375" y="2020193"/>
            <a:ext cx="1809750" cy="1455390"/>
          </a:xfrm>
          <a:prstGeom prst="roundRect">
            <a:avLst>
              <a:gd name="adj" fmla="val 11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6c5ce7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24157" y="2191643"/>
            <a:ext cx="149618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👩‍💻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824157" y="2694533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Co-fondateur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824157" y="2970758"/>
            <a:ext cx="1496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technique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824157" y="3146971"/>
            <a:ext cx="1496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/ ML / EdTech</a:t>
            </a:r>
            <a:endParaRPr lang="en-US" sz="825" dirty="0"/>
          </a:p>
        </p:txBody>
      </p:sp>
      <p:pic>
        <p:nvPicPr>
          <p:cNvPr id="20" name="Image 0" descr="/tmp/rasterized-gradient-bba8ef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181475"/>
            <a:ext cx="8382000" cy="5810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5800" y="4295775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Discutons !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85800" y="4448175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manika@edufamily.app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EduFamily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EduFamily - Pitch Deck</dc:title>
  <dc:subject>L'assistant parental intelligent</dc:subject>
  <dc:creator>Manika</dc:creator>
  <cp:lastModifiedBy>Manika</cp:lastModifiedBy>
  <cp:revision>1</cp:revision>
  <dcterms:created xsi:type="dcterms:W3CDTF">2025-12-13T11:17:10Z</dcterms:created>
  <dcterms:modified xsi:type="dcterms:W3CDTF">2025-12-13T11:17:10Z</dcterms:modified>
</cp:coreProperties>
</file>